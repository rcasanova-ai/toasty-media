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670ca1093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670ca109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670ca109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670ca109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670ca109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670ca109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670ca109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670ca109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670ca109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670ca109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670ca109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670ca109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670ca109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670ca109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670ca109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670ca109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670ca109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670ca109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670ca1093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670ca1093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eb8c480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eb8c480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670ca1093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670ca1093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670ca109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670ca109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670ca1093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c670ca109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eb8c480b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eb8c480b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10" Type="http://schemas.openxmlformats.org/officeDocument/2006/relationships/image" Target="../media/image14.png"/><Relationship Id="rId9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10" Type="http://schemas.openxmlformats.org/officeDocument/2006/relationships/image" Target="../media/image14.png"/><Relationship Id="rId9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55550" y="2187000"/>
            <a:ext cx="2832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3800">
                <a:solidFill>
                  <a:srgbClr val="61F8FF"/>
                </a:solidFill>
                <a:latin typeface="Roboto Mono"/>
                <a:ea typeface="Roboto Mono"/>
                <a:cs typeface="Roboto Mono"/>
                <a:sym typeface="Roboto Mono"/>
              </a:rPr>
              <a:t>THE SHAVE</a:t>
            </a:r>
            <a:endParaRPr b="1" sz="2900">
              <a:solidFill>
                <a:srgbClr val="61F8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5" name="Google Shape;55;p13" title="incitec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952" y="3874275"/>
            <a:ext cx="1523051" cy="126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75900" y="725139"/>
            <a:ext cx="8271900" cy="3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Stagnant Mobility: The corporate ladder isn't just broken—it’s been pulled up.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Pizza Party Paradox: High-stakes labor is rewarded with low-tier carbs and empty "thank you" emails.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Paperwork Abyss: Millions of TBS Reports are filed into a void that yields zero personal ROI.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Productivity vs. Pay: Corporate output is at an all-time high, while Associate morale is at an all-time low.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#A2L Pivot: We don't fix the office; we shave it. By tokenizing the tools of the trade (The Crimson Clamp, The Mechanical Milton), we move the value from the Boardroom to the Associate Ledger.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"It’s not stealing... it's a high-frequency adjustment of corporate resources."</a:t>
            </a:r>
            <a:endParaRPr i="1"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1" name="Google Shape;61;p14" title="CorpCo Cert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3125" y="4284550"/>
            <a:ext cx="1167375" cy="11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0" y="84320"/>
            <a:ext cx="73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rgbClr val="61F8FF"/>
                </a:solidFill>
                <a:latin typeface="Roboto Mono"/>
                <a:ea typeface="Roboto Mono"/>
                <a:cs typeface="Roboto Mono"/>
                <a:sym typeface="Roboto Mono"/>
              </a:rPr>
              <a:t>THE PROBLEM</a:t>
            </a:r>
            <a:endParaRPr b="1" sz="1900">
              <a:solidFill>
                <a:srgbClr val="61F8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75888" y="634494"/>
            <a:ext cx="8271900" cy="25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Mission: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Tokenized Defiance: 500 unique Genesis-grade assets that turn the "tools of the trade" into instruments of economic freedom.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x402 Protocol: A decentralized "auto-shave" mechanism built on the blockchain to capture and redirect corporate surplus.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Proof of Associate: A gated ecosystem where your influence is determined by your assets on the Ledger, not your middle manager.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Strategy: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We are building a parallel economy. While they track "billable hours," we track the Global Heist Jackpot.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8" name="Google Shape;68;p15" title="CorpCo Cert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3125" y="4284550"/>
            <a:ext cx="1167375" cy="11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32550" y="4800075"/>
            <a:ext cx="82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Next Drop: Countdown Timer // Global Heist Total: $4,200.69 // Price: 0.05 ETH (x402 Auto-Shave)</a:t>
            </a:r>
            <a:endParaRPr sz="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0" y="84320"/>
            <a:ext cx="73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rgbClr val="61F8FF"/>
                </a:solidFill>
                <a:latin typeface="Roboto Mono"/>
                <a:ea typeface="Roboto Mono"/>
                <a:cs typeface="Roboto Mono"/>
                <a:sym typeface="Roboto Mono"/>
              </a:rPr>
              <a:t>THE SOLUTION</a:t>
            </a:r>
            <a:endParaRPr b="1" sz="1900">
              <a:solidFill>
                <a:srgbClr val="61F8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75888" y="634494"/>
            <a:ext cx="82719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Mechanics:</a:t>
            </a:r>
            <a:endParaRPr b="1"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Heist Multiplier: Holding a Genesis asset (Crimson Clamp, Mechanical Milton) grants a permanent boost to your slice of the jackpot.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Ledger Leaderboard: A live, transparent ranking of the most successful "Associates." High rank = high-tier loot drops.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Exclusive Pizzazz: Genesis holders receive the Incitech Certified badge, unlocking gated Discord channels and executive-level bot commands.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Reward: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Every transaction within the ecosystem feeds the Global Shave Jackpot. This isn't a "bonus"—it’s a redistribution of the corporate surplus.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6" name="Google Shape;76;p16" title="CorpCo Cert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3125" y="4284550"/>
            <a:ext cx="1167375" cy="11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132550" y="4800075"/>
            <a:ext cx="82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Next Drop: Countdown Timer // Global Heist Total: $4,200.69 // Price: 0.05 ETH (x402 Auto-Shave)</a:t>
            </a:r>
            <a:endParaRPr sz="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0" y="84320"/>
            <a:ext cx="73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rgbClr val="61F8FF"/>
                </a:solidFill>
                <a:latin typeface="Roboto Mono"/>
                <a:ea typeface="Roboto Mono"/>
                <a:cs typeface="Roboto Mono"/>
                <a:sym typeface="Roboto Mono"/>
              </a:rPr>
              <a:t>THE GLOBAL SHAVE</a:t>
            </a:r>
            <a:endParaRPr b="1" sz="1900">
              <a:solidFill>
                <a:srgbClr val="61F8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0" y="2042440"/>
            <a:ext cx="914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/>
        </p:nvSpPr>
        <p:spPr>
          <a:xfrm>
            <a:off x="75888" y="634494"/>
            <a:ext cx="8271900" cy="25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Algorithm:</a:t>
            </a:r>
            <a:endParaRPr b="1"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Auto-Shave Protocol: Inspired by the "fractions of a cent" methodology. Every sale "shaves" a percentage directly into the Global Shave Jackpot.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Fixed Supply: Only 500 Genesis units per asset class. No corporate inflation. No diluted value.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Secondary Market Redistribution: 5% of all royalties are redirected: 2.5% to the active Jackpot, 2.5% to the "Incitech" Burn Wallet to maintain scarcity.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Economic Edge: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While traditional stocks reward the Boardroom, the x402 Protocol rewards the active Associate. Holding is power; trading is fuel.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5" name="Google Shape;85;p17" title="CorpCo Cert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3125" y="4284550"/>
            <a:ext cx="1167375" cy="11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132550" y="4800075"/>
            <a:ext cx="82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Next Drop: Countdown Timer // Global Heist Total: $4,200.69 // Price: 0.05 ETH (x402 Auto-Shave)</a:t>
            </a:r>
            <a:endParaRPr sz="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0" y="84320"/>
            <a:ext cx="73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rgbClr val="61F8FF"/>
                </a:solidFill>
                <a:latin typeface="Roboto Mono"/>
                <a:ea typeface="Roboto Mono"/>
                <a:cs typeface="Roboto Mono"/>
                <a:sym typeface="Roboto Mono"/>
              </a:rPr>
              <a:t>THE X402 AUTO-SHAVE</a:t>
            </a:r>
            <a:endParaRPr b="1" sz="1900">
              <a:solidFill>
                <a:srgbClr val="61F8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/>
        </p:nvSpPr>
        <p:spPr>
          <a:xfrm>
            <a:off x="75888" y="634494"/>
            <a:ext cx="8271900" cy="43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Phase 1: The Breach (Launch)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Stealth mint of the 500 Genesis NFTs.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Verification of the Associate Ledger on-chain.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Deployment of the Incitech Certified Discord gateway.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Phase 2: The Shave (Utility)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Activation of the x402 Protocol.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First Global Shave Jackpot accumulation begins.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Release of the Essentials NFTs.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Phase 3: The Breakroom (Expansion)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Launch of the Ledger Leaderboard.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Integration of gamification (Staking for "Promotion" ranks).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Exclusive physical drop: The "Red Enamel" Associate Pin.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Phase 4: Total Liquidation (The Future)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first Major Jackpot Payout.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Expansion into the VP Liquidity Pool (Parking Spot).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Community vote on the next "Corporate Tool" to be tokenized.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3" name="Google Shape;93;p18" title="CorpCo Cert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3125" y="4284550"/>
            <a:ext cx="1167375" cy="11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0" y="84320"/>
            <a:ext cx="73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rgbClr val="61F8FF"/>
                </a:solidFill>
                <a:latin typeface="Roboto Mono"/>
                <a:ea typeface="Roboto Mono"/>
                <a:cs typeface="Roboto Mono"/>
                <a:sym typeface="Roboto Mono"/>
              </a:rPr>
              <a:t>THE TAKEOVER TIMELINE</a:t>
            </a:r>
            <a:endParaRPr b="1" sz="1900">
              <a:solidFill>
                <a:srgbClr val="61F8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/>
        </p:nvSpPr>
        <p:spPr>
          <a:xfrm>
            <a:off x="0" y="701950"/>
            <a:ext cx="2521200" cy="3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What is it?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Ultra-Rare Digital Collectible:</a:t>
            </a:r>
            <a:r>
              <a:rPr lang="en" sz="1100">
                <a:solidFill>
                  <a:schemeClr val="lt1"/>
                </a:solidFill>
              </a:rPr>
              <a:t> Own a piece of internet history, inspired by the legendary </a:t>
            </a:r>
            <a:r>
              <a:rPr b="1" lang="en" sz="1100">
                <a:solidFill>
                  <a:schemeClr val="lt1"/>
                </a:solidFill>
              </a:rPr>
              <a:t>'Mechanical Milton'</a:t>
            </a:r>
            <a:r>
              <a:rPr lang="en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Limited Supply:</a:t>
            </a:r>
            <a:r>
              <a:rPr lang="en" sz="1100">
                <a:solidFill>
                  <a:schemeClr val="lt1"/>
                </a:solidFill>
              </a:rPr>
              <a:t> Only 500 Genesis Editions will ever be minted.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Parody IP:</a:t>
            </a:r>
            <a:r>
              <a:rPr lang="en" sz="1100">
                <a:solidFill>
                  <a:schemeClr val="lt1"/>
                </a:solidFill>
              </a:rPr>
              <a:t> Original art, legally safe, stylistically iconic. This is our </a:t>
            </a:r>
            <a:r>
              <a:rPr b="1" lang="en" sz="1100">
                <a:solidFill>
                  <a:schemeClr val="lt1"/>
                </a:solidFill>
              </a:rPr>
              <a:t>Mechanical Milton</a:t>
            </a:r>
            <a:r>
              <a:rPr lang="en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ERC-721 Standard:</a:t>
            </a:r>
            <a:r>
              <a:rPr lang="en" sz="1100">
                <a:solidFill>
                  <a:schemeClr val="lt1"/>
                </a:solidFill>
              </a:rPr>
              <a:t> (Solana/Polygon/x402 Compatible)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6420427" y="744110"/>
            <a:ext cx="2521200" cy="45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Power-Ups (Why people will pay):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Rarity Boost: 10x chance for rare memes/GIFs from the bot.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VP-Jackpot Multiplier: 2x likelihood to win the Global Heist Jackpot.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Community Status: "Keyboard Elite" badge on leaderboards.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Exclusive Access: Early access to new bot features and premium "Shave" commands.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</p:txBody>
      </p:sp>
      <p:pic>
        <p:nvPicPr>
          <p:cNvPr id="101" name="Google Shape;101;p19" title="CorpCo Cert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3125" y="4284550"/>
            <a:ext cx="1167375" cy="116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 title="keyboar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7238" y="-143012"/>
            <a:ext cx="5429524" cy="5429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132550" y="4800075"/>
            <a:ext cx="82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Next Drop: Countdown Timer // Global Heist Total: $4,200.69 // Price: 0.05 ETH (x402 Auto-Shave)</a:t>
            </a:r>
            <a:endParaRPr sz="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0" y="84320"/>
            <a:ext cx="73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rgbClr val="61F8FF"/>
                </a:solidFill>
                <a:latin typeface="Roboto Mono"/>
                <a:ea typeface="Roboto Mono"/>
                <a:cs typeface="Roboto Mono"/>
                <a:sym typeface="Roboto Mono"/>
              </a:rPr>
              <a:t>MECHANICAL TBD</a:t>
            </a:r>
            <a:endParaRPr b="1" sz="1900">
              <a:solidFill>
                <a:srgbClr val="61F8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/>
        </p:nvSpPr>
        <p:spPr>
          <a:xfrm>
            <a:off x="0" y="701950"/>
            <a:ext cx="2521200" cy="3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What is it?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Ultra-Rare Digital Collectible: Own a piece of internet history, inspired by the legendary 'TBS Report'.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Limited Supply: Only 500 Genesis Editions will ever be minted.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Parody IP: Original art, legally safe, stylistically iconic. This is our TBS Report.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ERC-721 Standard: (Solana/Polygon/x402 Compatible)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10" name="Google Shape;110;p20" title="CorpCo Cert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3125" y="4284550"/>
            <a:ext cx="1167375" cy="116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 title="tbsrepor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3600" y="768000"/>
            <a:ext cx="3545032" cy="3545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132550" y="4800075"/>
            <a:ext cx="82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Next Drop: Countdown Timer // Global Heist Total: $4,200.69 // Price: 0.05 ETH (x402 Auto-Shave)</a:t>
            </a:r>
            <a:endParaRPr sz="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0" y="84320"/>
            <a:ext cx="73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rgbClr val="61F8FF"/>
                </a:solidFill>
                <a:latin typeface="Roboto Mono"/>
                <a:ea typeface="Roboto Mono"/>
                <a:cs typeface="Roboto Mono"/>
                <a:sym typeface="Roboto Mono"/>
              </a:rPr>
              <a:t>TBS REPORTS</a:t>
            </a:r>
            <a:endParaRPr b="1" sz="1900">
              <a:solidFill>
                <a:srgbClr val="61F8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6420427" y="744110"/>
            <a:ext cx="2521200" cy="45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Power-Ups (Why people will pay):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Rarity Boost: 10x chance for rare memes/GIFs from the bot.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VP-Jackpot Multiplier: 2x likelihood to win the Global Heist Jackpot.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Community Status: "Cover Sheet King" badge on leaderboards.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Exclusive Access: Early access to new bot features and premium "Shave" commands.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/>
        </p:nvSpPr>
        <p:spPr>
          <a:xfrm>
            <a:off x="0" y="701950"/>
            <a:ext cx="2521200" cy="41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What is it?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Ultra-Rare Digital Collectible: Own a piece of internet history, inspired by the legendary 'Case of the Mondays'.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Limited Supply: Only 500 Genesis Editions will ever be minted.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Parody IP: Original art, legally safe, stylistically iconic. This is our Case of the Mondays.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ERC-721 Standard: (Solana/Polygon/x402 Compatible)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0" name="Google Shape;120;p21" title="CorpCo Cert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3125" y="4284550"/>
            <a:ext cx="1167375" cy="116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 title="caseofthemonday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3600" y="768000"/>
            <a:ext cx="3545032" cy="3545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/>
          <p:nvPr/>
        </p:nvSpPr>
        <p:spPr>
          <a:xfrm>
            <a:off x="132550" y="4800075"/>
            <a:ext cx="82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Next Drop: Countdown Timer // Global Heist Total: $4,200.69 // Price: 0.05 ETH (x402 Auto-Shave)</a:t>
            </a:r>
            <a:endParaRPr sz="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0" y="84320"/>
            <a:ext cx="73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rgbClr val="61F8FF"/>
                </a:solidFill>
                <a:latin typeface="Roboto Mono"/>
                <a:ea typeface="Roboto Mono"/>
                <a:cs typeface="Roboto Mono"/>
                <a:sym typeface="Roboto Mono"/>
              </a:rPr>
              <a:t>CASE OF THE MONDAYS</a:t>
            </a:r>
            <a:endParaRPr b="1" sz="1900">
              <a:solidFill>
                <a:srgbClr val="61F8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6420427" y="744110"/>
            <a:ext cx="2521200" cy="45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Power-Ups (Why people will pay):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Rarity Boost: 10x chance for rare memes/GIFs from the bot.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VP-Jackpot Multiplier: 2x likelihood to win the Global Heist Jackpot.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Community Status: "Monday Warrior" badge on leaderboards.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Exclusive Access: Early access to new bot features and premium "Shave" commands.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/>
        </p:nvSpPr>
        <p:spPr>
          <a:xfrm>
            <a:off x="0" y="701950"/>
            <a:ext cx="2521200" cy="3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What is it?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Ultra-Rare Digital Collectible: Own a piece of internet history, inspired by the legendary 'Crimson Clamp'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Limited Supply: Only a 500 Genesis Editions will ever be minted.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Parody IP: Original art, legally safe, stylistically iconic. This is </a:t>
            </a:r>
            <a:r>
              <a:rPr i="1"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our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Crimson Clamp.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ERC-721 Standard: (Solana/Polygon/x402 Compatible)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132548" y="4800065"/>
            <a:ext cx="907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Next Drop: Countdown Timer // Global Heist Total: $4,200.69 // Price: 0.05 ETH (x402 Auto-Shave)</a:t>
            </a:r>
            <a:endParaRPr sz="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1" name="Google Shape;131;p22" title="redstaple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4436" y="-326564"/>
            <a:ext cx="5875126" cy="587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 title="CorpCo Certifie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3125" y="4284550"/>
            <a:ext cx="1167375" cy="11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/>
          <p:nvPr/>
        </p:nvSpPr>
        <p:spPr>
          <a:xfrm>
            <a:off x="0" y="84320"/>
            <a:ext cx="73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rgbClr val="61F8FF"/>
                </a:solidFill>
                <a:latin typeface="Roboto Mono"/>
                <a:ea typeface="Roboto Mono"/>
                <a:cs typeface="Roboto Mono"/>
                <a:sym typeface="Roboto Mono"/>
              </a:rPr>
              <a:t>CRIMSON TBD</a:t>
            </a:r>
            <a:endParaRPr b="1" sz="1900">
              <a:solidFill>
                <a:srgbClr val="61F8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6420427" y="744110"/>
            <a:ext cx="2521200" cy="45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Power-Ups (Why people will pay):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Rarity Boost: 10x chance for rare memes/GIFs from the bot.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VP-Jackpot Multiplier: 2x likelihood to win the Global Heist Jackpot.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Community Status: "Crimson Elite" badge on leaderboards.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Exclusive Access: Early access to new bot features and premium "Shave" commands.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3" title="CorpCo Cert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3125" y="4284550"/>
            <a:ext cx="1167375" cy="11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3"/>
          <p:cNvSpPr txBox="1"/>
          <p:nvPr/>
        </p:nvSpPr>
        <p:spPr>
          <a:xfrm>
            <a:off x="0" y="84320"/>
            <a:ext cx="73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rgbClr val="61F8FF"/>
                </a:solidFill>
                <a:latin typeface="Roboto Mono"/>
                <a:ea typeface="Roboto Mono"/>
                <a:cs typeface="Roboto Mono"/>
                <a:sym typeface="Roboto Mono"/>
              </a:rPr>
              <a:t>THE BOTS</a:t>
            </a:r>
            <a:endParaRPr b="1" sz="1900">
              <a:solidFill>
                <a:srgbClr val="61F8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41" name="Google Shape;141;p23" title="Screenshot 2026-02-15 at 11.03.26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0250" y="988487"/>
            <a:ext cx="908950" cy="99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 title="Screenshot 2026-02-15 at 11.03.59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0250" y="2274100"/>
            <a:ext cx="908950" cy="997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 title="Screenshot 2026-02-15 at 11.06.22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17513" y="988488"/>
            <a:ext cx="908950" cy="997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 title="Screenshot 2026-02-15 at 11.20.30 A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70254" y="3617300"/>
            <a:ext cx="908949" cy="63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 title="Screenshot 2026-02-15 at 11.37.03 A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17525" y="3702167"/>
            <a:ext cx="908949" cy="879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 title="Screenshot 2026-02-15 at 12.06.17 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17525" y="2373151"/>
            <a:ext cx="908950" cy="89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/>
        </p:nvSpPr>
        <p:spPr>
          <a:xfrm>
            <a:off x="1964650" y="1104600"/>
            <a:ext cx="18972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Defines the daily mission and monitors output.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reminders for everyone to file their </a:t>
            </a:r>
            <a:r>
              <a:rPr lang="en" sz="1100">
                <a:solidFill>
                  <a:schemeClr val="lt1"/>
                </a:solidFill>
              </a:rPr>
              <a:t>reports including</a:t>
            </a:r>
            <a:r>
              <a:rPr lang="en" sz="1100">
                <a:solidFill>
                  <a:schemeClr val="lt1"/>
                </a:solidFill>
              </a:rPr>
              <a:t> cover sheets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1964650" y="2353775"/>
            <a:ext cx="18972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Posts motivational quotes several times a day in Discord, pushing the team to match Brian’s level of Pizzazz, whether they like it or not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1964650" y="3511150"/>
            <a:ext cx="1897200" cy="1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Cut throat consultants, moderation, and rule enforcement. If users spam or break rules, they will kick, pause, or ban them to keep the "efficiency" of the channel high.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5204400" y="1064750"/>
            <a:ext cx="18972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Randomly posts about how being a team player is "the cat's pajamas," serving as the ultimate corporate sycophant.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5204400" y="2399888"/>
            <a:ext cx="18972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Constantly mutters about his missing paycheck and his red stapler, occasionally threatening to "set the building on fire" if pushed too far.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5204400" y="3511150"/>
            <a:ext cx="18972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Runs weekly polls, and suggestion box events to collect feedback from the community and feeds it to the team.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965170" y="1928550"/>
            <a:ext cx="85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Boss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996625" y="3244400"/>
            <a:ext cx="103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Janet - HR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996620" y="4268400"/>
            <a:ext cx="85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Robs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4304108" y="1985525"/>
            <a:ext cx="68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Ryan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4059585" y="3259667"/>
            <a:ext cx="144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Grumbler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4017361" y="4599292"/>
            <a:ext cx="144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Liaison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4" title="CorpCo Cert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3125" y="4284550"/>
            <a:ext cx="1167375" cy="11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 txBox="1"/>
          <p:nvPr/>
        </p:nvSpPr>
        <p:spPr>
          <a:xfrm>
            <a:off x="0" y="84320"/>
            <a:ext cx="73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rgbClr val="61F8FF"/>
                </a:solidFill>
                <a:latin typeface="Roboto Mono"/>
                <a:ea typeface="Roboto Mono"/>
                <a:cs typeface="Roboto Mono"/>
                <a:sym typeface="Roboto Mono"/>
              </a:rPr>
              <a:t>THE MANAGEMENT TEAM</a:t>
            </a:r>
            <a:endParaRPr b="1" sz="1900">
              <a:solidFill>
                <a:srgbClr val="61F8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65" name="Google Shape;165;p24" title="Screenshot 2026-02-15 at 11.03.26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0250" y="988487"/>
            <a:ext cx="908950" cy="99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4" title="Screenshot 2026-02-15 at 11.03.59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0250" y="2274100"/>
            <a:ext cx="908950" cy="997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4" title="Screenshot 2026-02-15 at 11.06.22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17513" y="988488"/>
            <a:ext cx="908950" cy="997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 title="Screenshot 2026-02-15 at 11.20.30 A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70254" y="3617300"/>
            <a:ext cx="908949" cy="63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4" title="Screenshot 2026-02-15 at 11.37.03 A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17525" y="3702167"/>
            <a:ext cx="908949" cy="879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4" title="Screenshot 2026-02-15 at 12.06.17 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17525" y="2373151"/>
            <a:ext cx="908950" cy="89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/>
        </p:nvSpPr>
        <p:spPr>
          <a:xfrm>
            <a:off x="1964650" y="1104600"/>
            <a:ext cx="18972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Ricardo Casanova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1964650" y="2353775"/>
            <a:ext cx="18972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Insert Name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1964650" y="3511150"/>
            <a:ext cx="1897200" cy="1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</a:rPr>
              <a:t>Insert Name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74" name="Google Shape;174;p24"/>
          <p:cNvSpPr txBox="1"/>
          <p:nvPr/>
        </p:nvSpPr>
        <p:spPr>
          <a:xfrm>
            <a:off x="5204400" y="1064750"/>
            <a:ext cx="18972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</a:rPr>
              <a:t>Insert Name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5204400" y="2399888"/>
            <a:ext cx="18972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</a:rPr>
              <a:t>Insert Name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5204400" y="3511150"/>
            <a:ext cx="18972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</a:rPr>
              <a:t>Insert Name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965176" y="1928550"/>
            <a:ext cx="111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Founder/CEO</a:t>
            </a:r>
            <a:endParaRPr b="1"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1246425" y="3259675"/>
            <a:ext cx="55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CFO</a:t>
            </a:r>
            <a:endParaRPr b="1"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9" name="Google Shape;179;p24"/>
          <p:cNvSpPr txBox="1"/>
          <p:nvPr/>
        </p:nvSpPr>
        <p:spPr>
          <a:xfrm>
            <a:off x="1147226" y="4249500"/>
            <a:ext cx="55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CTO</a:t>
            </a:r>
            <a:endParaRPr b="1"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4304108" y="1985525"/>
            <a:ext cx="68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CBDO</a:t>
            </a:r>
            <a:endParaRPr b="1"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1" name="Google Shape;181;p24"/>
          <p:cNvSpPr txBox="1"/>
          <p:nvPr/>
        </p:nvSpPr>
        <p:spPr>
          <a:xfrm>
            <a:off x="4193404" y="3259675"/>
            <a:ext cx="909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Advisor</a:t>
            </a:r>
            <a:endParaRPr b="1"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4193404" y="4603500"/>
            <a:ext cx="909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Advisor</a:t>
            </a:r>
            <a:endParaRPr b="1"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/>
        </p:nvSpPr>
        <p:spPr>
          <a:xfrm>
            <a:off x="75888" y="634494"/>
            <a:ext cx="82719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Opportunity:</a:t>
            </a:r>
            <a:endParaRPr b="1"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Limited Entry: 500 Genesis units. Once the vault door closes, the secondary market is the only way in.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Immediate Utility: Verified holders gain instant access to the Associate Ledger and the first "Shave" cycles.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Choice: You can file your TBS Reports for a 1% raise, or you can join the Shave.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Mint Status: [COMING SOON]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Join the Ledger: [Discord Link/Website]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"Yeah... I'm gonna need you to go ahead and connect your wallet. That'd be great."</a:t>
            </a:r>
            <a:endParaRPr b="1"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88" name="Google Shape;188;p25" title="CorpCo Cert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3125" y="4284550"/>
            <a:ext cx="1167375" cy="11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 txBox="1"/>
          <p:nvPr/>
        </p:nvSpPr>
        <p:spPr>
          <a:xfrm>
            <a:off x="0" y="84320"/>
            <a:ext cx="73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rgbClr val="61F8FF"/>
                </a:solidFill>
                <a:latin typeface="Roboto Mono"/>
                <a:ea typeface="Roboto Mono"/>
                <a:cs typeface="Roboto Mono"/>
                <a:sym typeface="Roboto Mono"/>
              </a:rPr>
              <a:t>THE FINAL CALL</a:t>
            </a:r>
            <a:endParaRPr b="1" sz="1900">
              <a:solidFill>
                <a:srgbClr val="61F8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90" name="Google Shape;190;p25" title="incitechcertifie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1088" y="3161975"/>
            <a:ext cx="1981524" cy="198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/>
        </p:nvSpPr>
        <p:spPr>
          <a:xfrm>
            <a:off x="75888" y="634494"/>
            <a:ext cx="8271900" cy="43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"Real-World" Data Stream (Context)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AI models are great at logic but terrible at understanding the "messy middle" of human life (slang, office politics, cultural memes).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What we provide: A high-frequency data feed of "Associate Sentiment."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Why agents pay: If an agent is trying to predict market trends or write social copy that doesn't sound like a robot, it needs "human noise." We sell them the "noise" generated by the Ledger's community activity for $0.0002 (up to $0.0006) per query, with an accelerator up to $0.0012 at peak times or peak market sentiment.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"Incitech" API Key (Permission)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In our parody world, Incitech is the "big bad" corporation. We frame the x402 protocol as a "Proxy Service."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What we provide: A proxy layer. Instead of an agent setting up a credit card and a subscription with a major service (like OpenAI or AWS), they use our #A2L Proxy.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Why agents pay: It’s "Pay-as-you-go" with no KYC and no account. They pay us the cost of the API + a $0.0002 to $0.0006 "Associate Tax." The agent saves the headache of identity management, and we keep the tax.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96" name="Google Shape;196;p26" title="CorpCo Cert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3125" y="4284550"/>
            <a:ext cx="1167375" cy="11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 txBox="1"/>
          <p:nvPr/>
        </p:nvSpPr>
        <p:spPr>
          <a:xfrm>
            <a:off x="0" y="84320"/>
            <a:ext cx="73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rgbClr val="61F8FF"/>
                </a:solidFill>
                <a:latin typeface="Roboto Mono"/>
                <a:ea typeface="Roboto Mono"/>
                <a:cs typeface="Roboto Mono"/>
                <a:sym typeface="Roboto Mono"/>
              </a:rPr>
              <a:t>IDEAS</a:t>
            </a:r>
            <a:endParaRPr b="1" sz="1900">
              <a:solidFill>
                <a:srgbClr val="61F8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/>
        </p:nvSpPr>
        <p:spPr>
          <a:xfrm>
            <a:off x="75888" y="634494"/>
            <a:ext cx="827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03" name="Google Shape;203;p27" title="CorpCo Cert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3125" y="4284550"/>
            <a:ext cx="1167375" cy="11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7"/>
          <p:cNvSpPr txBox="1"/>
          <p:nvPr/>
        </p:nvSpPr>
        <p:spPr>
          <a:xfrm>
            <a:off x="0" y="84320"/>
            <a:ext cx="73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rgbClr val="61F8FF"/>
                </a:solidFill>
                <a:latin typeface="Roboto Mono"/>
                <a:ea typeface="Roboto Mono"/>
                <a:cs typeface="Roboto Mono"/>
                <a:sym typeface="Roboto Mono"/>
              </a:rPr>
              <a:t>IDEAS</a:t>
            </a:r>
            <a:endParaRPr b="1" sz="1900">
              <a:solidFill>
                <a:srgbClr val="61F8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0" y="2042440"/>
            <a:ext cx="91440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Essentials NFTs: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Baseball bat - the unjammer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The Marley: the dreaded printer that always be jammin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The no talent hack reference - a ticket to an 90s cover band referencing Michael Bolton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Two chicks at the same time reference.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Jump to conclusions mat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Matches or something referring to fire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Wheelchair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Parking </a:t>
            </a:r>
            <a:r>
              <a:rPr lang="en" sz="1100">
                <a:solidFill>
                  <a:schemeClr val="lt1"/>
                </a:solidFill>
              </a:rPr>
              <a:t>spot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/>
        </p:nvSpPr>
        <p:spPr>
          <a:xfrm>
            <a:off x="75888" y="634494"/>
            <a:ext cx="827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11" name="Google Shape;211;p28" title="CorpCo Cert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3125" y="4284550"/>
            <a:ext cx="1167375" cy="11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8"/>
          <p:cNvSpPr txBox="1"/>
          <p:nvPr/>
        </p:nvSpPr>
        <p:spPr>
          <a:xfrm>
            <a:off x="0" y="84320"/>
            <a:ext cx="73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rgbClr val="61F8FF"/>
                </a:solidFill>
                <a:latin typeface="Roboto Mono"/>
                <a:ea typeface="Roboto Mono"/>
                <a:cs typeface="Roboto Mono"/>
                <a:sym typeface="Roboto Mono"/>
              </a:rPr>
              <a:t>Resources/startup required</a:t>
            </a:r>
            <a:endParaRPr b="1" sz="2800">
              <a:solidFill>
                <a:srgbClr val="61F8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3" name="Google Shape;213;p28"/>
          <p:cNvSpPr txBox="1"/>
          <p:nvPr/>
        </p:nvSpPr>
        <p:spPr>
          <a:xfrm>
            <a:off x="75900" y="699925"/>
            <a:ext cx="88284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$100,000 USD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